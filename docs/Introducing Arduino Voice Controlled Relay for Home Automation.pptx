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-564" y="-84"/>
      </p:cViewPr>
      <p:guideLst>
        <p:guide orient="horz" pos="2592"/>
        <p:guide pos="46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ECEF"/>
          </a:solidFill>
          <a:ln w="13811">
            <a:solidFill>
              <a:srgbClr val="E5E0D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37993" y="1804392"/>
            <a:ext cx="10554414" cy="177736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3499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Indian Institute of Information &amp; Technology, </a:t>
            </a:r>
            <a:r>
              <a:rPr lang="en-US" sz="240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
</a:t>
            </a:r>
            <a:r>
              <a:rPr lang="en-US" sz="2400" b="1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Bhopal</a:t>
            </a:r>
            <a:r>
              <a:rPr lang="en-US" sz="240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
</a:t>
            </a:r>
            <a:r>
              <a:rPr lang="en-US" sz="2400" b="1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ECE 7th Sem. </a:t>
            </a:r>
            <a:r>
              <a:rPr lang="en-US" sz="240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
</a:t>
            </a:r>
            <a:r>
              <a:rPr lang="en-US" sz="2400" b="1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Major Project -2023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037993" y="4081582"/>
            <a:ext cx="10554414" cy="44434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499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Meet the Dynamic Team of Group No. 12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393394" y="4775835"/>
            <a:ext cx="10199013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342900" indent="-342900" algn="l">
              <a:lnSpc>
                <a:spcPts val="2799"/>
              </a:lnSpc>
              <a:buSzPct val="10000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Abhishek Brajvasi (Scholar No. 20U01047)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393394" y="5220057"/>
            <a:ext cx="10199013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342900" indent="-342900" algn="l">
              <a:lnSpc>
                <a:spcPts val="2799"/>
              </a:lnSpc>
              <a:buSzPct val="10000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Arpeet Bhaisare (Scholar No. 20U01041)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393394" y="5664279"/>
            <a:ext cx="10199013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342900" indent="-342900" algn="l">
              <a:lnSpc>
                <a:spcPts val="2799"/>
              </a:lnSpc>
              <a:buSzPct val="10000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Samarth Varshney (Scholar No. 20U01024)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037993" y="6269593"/>
            <a:ext cx="10554414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Supervisor: Dr. Bhupendra Singh Kirar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5498"/>
            <a:ext cx="14630400" cy="8229600"/>
          </a:xfrm>
          <a:prstGeom prst="rect">
            <a:avLst/>
          </a:prstGeom>
          <a:solidFill>
            <a:srgbClr val="EBECEF"/>
          </a:solidFill>
          <a:ln w="13811">
            <a:solidFill>
              <a:srgbClr val="E5E0D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319599" y="2040255"/>
            <a:ext cx="7477601" cy="24995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6561"/>
              </a:lnSpc>
              <a:buNone/>
            </a:pPr>
            <a:r>
              <a:rPr lang="en-US" sz="5249" dirty="0">
                <a:solidFill>
                  <a:srgbClr val="00000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Introducing Arduino Voice Controlled Relay for Home Automation</a:t>
            </a:r>
            <a:endParaRPr lang="en-US" sz="5249" dirty="0"/>
          </a:p>
        </p:txBody>
      </p:sp>
      <p:sp>
        <p:nvSpPr>
          <p:cNvPr id="5" name="Text 3"/>
          <p:cNvSpPr/>
          <p:nvPr/>
        </p:nvSpPr>
        <p:spPr>
          <a:xfrm>
            <a:off x="6319599" y="5123021"/>
            <a:ext cx="74776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Explore the world of smart home technology and learn how to integrate voice control in your home devices with Arduino Relay and Bluetooth technology.</a:t>
            </a:r>
            <a:endParaRPr lang="en-US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 w="13811">
            <a:solidFill>
              <a:srgbClr val="56515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37993" y="859512"/>
            <a:ext cx="976884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Arduino Relay and Bluetooth Module</a:t>
            </a:r>
            <a:endParaRPr lang="en-US" sz="4374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7993" y="1998226"/>
            <a:ext cx="3295888" cy="20369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37993" y="4312801"/>
            <a:ext cx="293370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Arduino Relay Module</a:t>
            </a:r>
            <a:endParaRPr lang="en-US" sz="2187" dirty="0"/>
          </a:p>
        </p:txBody>
      </p:sp>
      <p:sp>
        <p:nvSpPr>
          <p:cNvPr id="7" name="Text 4"/>
          <p:cNvSpPr/>
          <p:nvPr/>
        </p:nvSpPr>
        <p:spPr>
          <a:xfrm>
            <a:off x="2037993" y="4882158"/>
            <a:ext cx="3295888" cy="177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99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Easily control high voltage devices with Arduino Relay Module. It's easy to set up and perfect for home automation projects.</a:t>
            </a:r>
            <a:endParaRPr lang="en-US" sz="1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7137" y="1998226"/>
            <a:ext cx="3296007" cy="2037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67137" y="4312920"/>
            <a:ext cx="234696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Bluetooth Module</a:t>
            </a:r>
            <a:endParaRPr lang="en-US" sz="2187" dirty="0"/>
          </a:p>
        </p:txBody>
      </p:sp>
      <p:sp>
        <p:nvSpPr>
          <p:cNvPr id="10" name="Text 6"/>
          <p:cNvSpPr/>
          <p:nvPr/>
        </p:nvSpPr>
        <p:spPr>
          <a:xfrm>
            <a:off x="5667137" y="4882277"/>
            <a:ext cx="3296007" cy="24878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99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Make your smart home wireless with Bluetooth Module. It's the perfect companion for Arduino Relay and allows wireless control of your home automation system.</a:t>
            </a:r>
            <a:endParaRPr lang="en-US" sz="17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6400" y="1998226"/>
            <a:ext cx="3296007" cy="2037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296400" y="4312920"/>
            <a:ext cx="3296007" cy="6943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Smart Home Automation</a:t>
            </a:r>
            <a:endParaRPr lang="en-US" sz="2187" dirty="0"/>
          </a:p>
        </p:txBody>
      </p:sp>
      <p:sp>
        <p:nvSpPr>
          <p:cNvPr id="13" name="Text 8"/>
          <p:cNvSpPr/>
          <p:nvPr/>
        </p:nvSpPr>
        <p:spPr>
          <a:xfrm>
            <a:off x="9296400" y="5229463"/>
            <a:ext cx="3296007" cy="21324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99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Explore the smart home automation world with Arduino Relay and Bluetooth. Build your own systems and make your daily life easier and more comfortable.</a:t>
            </a:r>
            <a:endParaRPr lang="en-US" sz="17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 w="13335">
            <a:solidFill>
              <a:srgbClr val="56515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03609" y="592217"/>
            <a:ext cx="10223063" cy="13449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5296"/>
              </a:lnSpc>
              <a:buNone/>
            </a:pPr>
            <a:r>
              <a:rPr lang="en-US" sz="4237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Voice Recognition for Home Automation</a:t>
            </a:r>
            <a:endParaRPr lang="en-US" sz="4237" dirty="0"/>
          </a:p>
        </p:txBody>
      </p:sp>
      <p:sp>
        <p:nvSpPr>
          <p:cNvPr id="5" name="Shape 3"/>
          <p:cNvSpPr/>
          <p:nvPr/>
        </p:nvSpPr>
        <p:spPr>
          <a:xfrm>
            <a:off x="7293650" y="2367558"/>
            <a:ext cx="42982" cy="5269706"/>
          </a:xfrm>
          <a:prstGeom prst="rect">
            <a:avLst/>
          </a:prstGeom>
          <a:solidFill>
            <a:srgbClr val="303B69"/>
          </a:solidFill>
          <a:ln/>
        </p:spPr>
      </p:sp>
      <p:sp>
        <p:nvSpPr>
          <p:cNvPr id="6" name="Shape 4"/>
          <p:cNvSpPr/>
          <p:nvPr/>
        </p:nvSpPr>
        <p:spPr>
          <a:xfrm>
            <a:off x="7557195" y="2756237"/>
            <a:ext cx="753189" cy="42982"/>
          </a:xfrm>
          <a:prstGeom prst="rect">
            <a:avLst/>
          </a:prstGeom>
          <a:solidFill>
            <a:srgbClr val="303B69"/>
          </a:solidFill>
          <a:ln/>
        </p:spPr>
      </p:sp>
      <p:sp>
        <p:nvSpPr>
          <p:cNvPr id="7" name="Shape 5"/>
          <p:cNvSpPr/>
          <p:nvPr/>
        </p:nvSpPr>
        <p:spPr>
          <a:xfrm>
            <a:off x="7072967" y="2535674"/>
            <a:ext cx="484227" cy="484227"/>
          </a:xfrm>
          <a:prstGeom prst="roundRect">
            <a:avLst>
              <a:gd name="adj" fmla="val 20001"/>
            </a:avLst>
          </a:prstGeom>
          <a:solidFill>
            <a:srgbClr val="283157"/>
          </a:solidFill>
          <a:ln w="13335">
            <a:solidFill>
              <a:srgbClr val="303B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42631" y="2576036"/>
            <a:ext cx="144780" cy="40338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178"/>
              </a:lnSpc>
              <a:buNone/>
            </a:pPr>
            <a:r>
              <a:rPr lang="en-US" sz="2542" dirty="0">
                <a:solidFill>
                  <a:srgbClr val="EBECE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</a:t>
            </a:r>
            <a:endParaRPr lang="en-US" sz="2542" dirty="0"/>
          </a:p>
        </p:txBody>
      </p:sp>
      <p:sp>
        <p:nvSpPr>
          <p:cNvPr id="9" name="Text 7"/>
          <p:cNvSpPr/>
          <p:nvPr/>
        </p:nvSpPr>
        <p:spPr>
          <a:xfrm>
            <a:off x="8498800" y="2582704"/>
            <a:ext cx="3870960" cy="33635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648"/>
              </a:lnSpc>
              <a:buNone/>
            </a:pPr>
            <a:r>
              <a:rPr lang="en-US" sz="2118" dirty="0">
                <a:solidFill>
                  <a:srgbClr val="EBECE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Voice Recognition Technology</a:t>
            </a:r>
            <a:endParaRPr lang="en-US" sz="2118" dirty="0"/>
          </a:p>
        </p:txBody>
      </p:sp>
      <p:sp>
        <p:nvSpPr>
          <p:cNvPr id="10" name="Text 8"/>
          <p:cNvSpPr/>
          <p:nvPr/>
        </p:nvSpPr>
        <p:spPr>
          <a:xfrm>
            <a:off x="8498800" y="3134201"/>
            <a:ext cx="3927872" cy="13773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11"/>
              </a:lnSpc>
              <a:buNone/>
            </a:pPr>
            <a:r>
              <a:rPr lang="en-US" sz="1695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Discover the voice recognition technology and learn about its development and applications in home automation systems.</a:t>
            </a:r>
            <a:endParaRPr lang="en-US" sz="1695" dirty="0"/>
          </a:p>
        </p:txBody>
      </p:sp>
      <p:sp>
        <p:nvSpPr>
          <p:cNvPr id="11" name="Shape 9"/>
          <p:cNvSpPr/>
          <p:nvPr/>
        </p:nvSpPr>
        <p:spPr>
          <a:xfrm>
            <a:off x="6319778" y="3832205"/>
            <a:ext cx="753189" cy="42982"/>
          </a:xfrm>
          <a:prstGeom prst="rect">
            <a:avLst/>
          </a:prstGeom>
          <a:solidFill>
            <a:srgbClr val="303B69"/>
          </a:solidFill>
          <a:ln/>
        </p:spPr>
      </p:sp>
      <p:sp>
        <p:nvSpPr>
          <p:cNvPr id="12" name="Shape 10"/>
          <p:cNvSpPr/>
          <p:nvPr/>
        </p:nvSpPr>
        <p:spPr>
          <a:xfrm>
            <a:off x="7072967" y="3611642"/>
            <a:ext cx="484227" cy="484227"/>
          </a:xfrm>
          <a:prstGeom prst="roundRect">
            <a:avLst>
              <a:gd name="adj" fmla="val 20001"/>
            </a:avLst>
          </a:prstGeom>
          <a:solidFill>
            <a:srgbClr val="283157"/>
          </a:solidFill>
          <a:ln w="13335">
            <a:solidFill>
              <a:srgbClr val="303B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15961" y="3652004"/>
            <a:ext cx="198120" cy="40338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178"/>
              </a:lnSpc>
              <a:buNone/>
            </a:pPr>
            <a:r>
              <a:rPr lang="en-US" sz="2542" dirty="0">
                <a:solidFill>
                  <a:srgbClr val="EBECE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</a:t>
            </a:r>
            <a:endParaRPr lang="en-US" sz="2542" dirty="0"/>
          </a:p>
        </p:txBody>
      </p:sp>
      <p:sp>
        <p:nvSpPr>
          <p:cNvPr id="14" name="Text 12"/>
          <p:cNvSpPr/>
          <p:nvPr/>
        </p:nvSpPr>
        <p:spPr>
          <a:xfrm>
            <a:off x="2203609" y="3658672"/>
            <a:ext cx="3927753" cy="672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ts val="2648"/>
              </a:lnSpc>
              <a:buNone/>
            </a:pPr>
            <a:r>
              <a:rPr lang="en-US" sz="2118" dirty="0">
                <a:solidFill>
                  <a:srgbClr val="EBECE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Integrating Voice Recognition with Arduino Relay</a:t>
            </a:r>
            <a:endParaRPr lang="en-US" sz="2118" dirty="0"/>
          </a:p>
        </p:txBody>
      </p:sp>
      <p:sp>
        <p:nvSpPr>
          <p:cNvPr id="15" name="Text 13"/>
          <p:cNvSpPr/>
          <p:nvPr/>
        </p:nvSpPr>
        <p:spPr>
          <a:xfrm>
            <a:off x="2203609" y="4546521"/>
            <a:ext cx="3927753" cy="13773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ts val="2711"/>
              </a:lnSpc>
              <a:buNone/>
            </a:pPr>
            <a:r>
              <a:rPr lang="en-US" sz="1695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Explore the process of integrating voice recognition with Arduino Relay, and learn the technical details of how the system works.</a:t>
            </a:r>
            <a:endParaRPr lang="en-US" sz="1695" dirty="0"/>
          </a:p>
        </p:txBody>
      </p:sp>
      <p:sp>
        <p:nvSpPr>
          <p:cNvPr id="16" name="Shape 14"/>
          <p:cNvSpPr/>
          <p:nvPr/>
        </p:nvSpPr>
        <p:spPr>
          <a:xfrm>
            <a:off x="7557195" y="5330488"/>
            <a:ext cx="753189" cy="42982"/>
          </a:xfrm>
          <a:prstGeom prst="rect">
            <a:avLst/>
          </a:prstGeom>
          <a:solidFill>
            <a:srgbClr val="303B69"/>
          </a:solidFill>
          <a:ln/>
        </p:spPr>
      </p:sp>
      <p:sp>
        <p:nvSpPr>
          <p:cNvPr id="17" name="Shape 15"/>
          <p:cNvSpPr/>
          <p:nvPr/>
        </p:nvSpPr>
        <p:spPr>
          <a:xfrm>
            <a:off x="7072967" y="5109924"/>
            <a:ext cx="484227" cy="484227"/>
          </a:xfrm>
          <a:prstGeom prst="roundRect">
            <a:avLst>
              <a:gd name="adj" fmla="val 20001"/>
            </a:avLst>
          </a:prstGeom>
          <a:solidFill>
            <a:srgbClr val="283157"/>
          </a:solidFill>
          <a:ln w="13335">
            <a:solidFill>
              <a:srgbClr val="303B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7391" y="5150287"/>
            <a:ext cx="175260" cy="40338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178"/>
              </a:lnSpc>
              <a:buNone/>
            </a:pPr>
            <a:r>
              <a:rPr lang="en-US" sz="2542" dirty="0">
                <a:solidFill>
                  <a:srgbClr val="EBECE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</a:t>
            </a:r>
            <a:endParaRPr lang="en-US" sz="2542" dirty="0"/>
          </a:p>
        </p:txBody>
      </p:sp>
      <p:sp>
        <p:nvSpPr>
          <p:cNvPr id="19" name="Text 17"/>
          <p:cNvSpPr/>
          <p:nvPr/>
        </p:nvSpPr>
        <p:spPr>
          <a:xfrm>
            <a:off x="8498800" y="5156954"/>
            <a:ext cx="3927872" cy="672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648"/>
              </a:lnSpc>
              <a:buNone/>
            </a:pPr>
            <a:r>
              <a:rPr lang="en-US" sz="2118" dirty="0">
                <a:solidFill>
                  <a:srgbClr val="EBECE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Creating Custom Voice Commands</a:t>
            </a:r>
            <a:endParaRPr lang="en-US" sz="2118" dirty="0"/>
          </a:p>
        </p:txBody>
      </p:sp>
      <p:sp>
        <p:nvSpPr>
          <p:cNvPr id="20" name="Text 18"/>
          <p:cNvSpPr/>
          <p:nvPr/>
        </p:nvSpPr>
        <p:spPr>
          <a:xfrm>
            <a:off x="8498800" y="6044803"/>
            <a:ext cx="3927872" cy="13773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11"/>
              </a:lnSpc>
              <a:buNone/>
            </a:pPr>
            <a:r>
              <a:rPr lang="en-US" sz="1695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Customize your home automation system by creating unique voice commands for your devices using a few simple programming steps.</a:t>
            </a:r>
            <a:endParaRPr lang="en-US" sz="169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 w="13811">
            <a:solidFill>
              <a:srgbClr val="56515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37993" y="624245"/>
            <a:ext cx="10554414" cy="13887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Building Voice Controlled Home Automation System</a:t>
            </a:r>
            <a:endParaRPr lang="en-US" sz="4374" dirty="0"/>
          </a:p>
        </p:txBody>
      </p:sp>
      <p:sp>
        <p:nvSpPr>
          <p:cNvPr id="5" name="Shape 3"/>
          <p:cNvSpPr/>
          <p:nvPr/>
        </p:nvSpPr>
        <p:spPr>
          <a:xfrm>
            <a:off x="2037993" y="2457331"/>
            <a:ext cx="5166122" cy="2462927"/>
          </a:xfrm>
          <a:prstGeom prst="roundRect">
            <a:avLst>
              <a:gd name="adj" fmla="val 4060"/>
            </a:avLst>
          </a:prstGeom>
          <a:solidFill>
            <a:srgbClr val="283157"/>
          </a:solidFill>
          <a:ln w="13811">
            <a:solidFill>
              <a:srgbClr val="303B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73975" y="2693313"/>
            <a:ext cx="275082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EBECE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Equipment Required</a:t>
            </a:r>
            <a:endParaRPr lang="en-US" sz="2187" dirty="0"/>
          </a:p>
        </p:txBody>
      </p:sp>
      <p:sp>
        <p:nvSpPr>
          <p:cNvPr id="7" name="Text 5"/>
          <p:cNvSpPr/>
          <p:nvPr/>
        </p:nvSpPr>
        <p:spPr>
          <a:xfrm>
            <a:off x="2273975" y="3262670"/>
            <a:ext cx="4694158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Discover the equipment required to build a voice-controlled home automation system and ensure its proper functioning.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6285" y="2457331"/>
            <a:ext cx="5166122" cy="2462927"/>
          </a:xfrm>
          <a:prstGeom prst="roundRect">
            <a:avLst>
              <a:gd name="adj" fmla="val 4060"/>
            </a:avLst>
          </a:prstGeom>
          <a:solidFill>
            <a:srgbClr val="283157"/>
          </a:solidFill>
          <a:ln w="13811">
            <a:solidFill>
              <a:srgbClr val="303B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62267" y="2693313"/>
            <a:ext cx="256794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EBECE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Step-by-Step Guide</a:t>
            </a:r>
            <a:endParaRPr lang="en-US" sz="2187" dirty="0"/>
          </a:p>
        </p:txBody>
      </p:sp>
      <p:sp>
        <p:nvSpPr>
          <p:cNvPr id="10" name="Text 8"/>
          <p:cNvSpPr/>
          <p:nvPr/>
        </p:nvSpPr>
        <p:spPr>
          <a:xfrm>
            <a:off x="7662267" y="3262670"/>
            <a:ext cx="4694158" cy="1421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Learn how to build your own voice-controlled home automation system with a step-by-step guide and helpful tips to avoid common mistakes.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2037993" y="5142428"/>
            <a:ext cx="5166122" cy="2462927"/>
          </a:xfrm>
          <a:prstGeom prst="roundRect">
            <a:avLst>
              <a:gd name="adj" fmla="val 4060"/>
            </a:avLst>
          </a:prstGeom>
          <a:solidFill>
            <a:srgbClr val="283157"/>
          </a:solidFill>
          <a:ln w="13811">
            <a:solidFill>
              <a:srgbClr val="303B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73975" y="5378410"/>
            <a:ext cx="302514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EBECE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Arduino Programming</a:t>
            </a:r>
            <a:endParaRPr lang="en-US" sz="2187" dirty="0"/>
          </a:p>
        </p:txBody>
      </p:sp>
      <p:sp>
        <p:nvSpPr>
          <p:cNvPr id="13" name="Text 11"/>
          <p:cNvSpPr/>
          <p:nvPr/>
        </p:nvSpPr>
        <p:spPr>
          <a:xfrm>
            <a:off x="2273975" y="5947767"/>
            <a:ext cx="4694158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Get hands-on programming experience and learn how to integrate your voice commands with the Arduino Relay module.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7426285" y="5142428"/>
            <a:ext cx="5166122" cy="2462927"/>
          </a:xfrm>
          <a:prstGeom prst="roundRect">
            <a:avLst>
              <a:gd name="adj" fmla="val 4060"/>
            </a:avLst>
          </a:prstGeom>
          <a:solidFill>
            <a:srgbClr val="283157"/>
          </a:solidFill>
          <a:ln w="13811">
            <a:solidFill>
              <a:srgbClr val="303B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62267" y="5378410"/>
            <a:ext cx="378714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EBECE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Testing and Troubleshooting</a:t>
            </a:r>
            <a:endParaRPr lang="en-US" sz="2187" dirty="0"/>
          </a:p>
        </p:txBody>
      </p:sp>
      <p:sp>
        <p:nvSpPr>
          <p:cNvPr id="16" name="Text 14"/>
          <p:cNvSpPr/>
          <p:nvPr/>
        </p:nvSpPr>
        <p:spPr>
          <a:xfrm>
            <a:off x="7662267" y="5947767"/>
            <a:ext cx="4694158" cy="1421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Test your system and learn how to troubleshoot any issues that arise. Ensure that your home automation system is always functional.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 w="13811">
            <a:solidFill>
              <a:srgbClr val="565151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>
              <a:alpha val="8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2037993" y="1426607"/>
            <a:ext cx="10554414" cy="13887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Advantages of Voice Controlled Home Automation</a:t>
            </a:r>
            <a:endParaRPr lang="en-US" sz="4374" dirty="0"/>
          </a:p>
        </p:txBody>
      </p:sp>
      <p:sp>
        <p:nvSpPr>
          <p:cNvPr id="7" name="Shape 4"/>
          <p:cNvSpPr/>
          <p:nvPr/>
        </p:nvSpPr>
        <p:spPr>
          <a:xfrm>
            <a:off x="2037993" y="3322201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283157"/>
          </a:solidFill>
          <a:ln w="13811">
            <a:solidFill>
              <a:srgbClr val="303B6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211705" y="3363873"/>
            <a:ext cx="152400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81"/>
              </a:lnSpc>
              <a:buNone/>
            </a:pPr>
            <a:r>
              <a:rPr lang="en-US" sz="2624" dirty="0">
                <a:solidFill>
                  <a:srgbClr val="EBECE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</a:t>
            </a:r>
            <a:endParaRPr lang="en-US" sz="2624" dirty="0"/>
          </a:p>
        </p:txBody>
      </p:sp>
      <p:sp>
        <p:nvSpPr>
          <p:cNvPr id="9" name="Text 6"/>
          <p:cNvSpPr/>
          <p:nvPr/>
        </p:nvSpPr>
        <p:spPr>
          <a:xfrm>
            <a:off x="2760107" y="3398520"/>
            <a:ext cx="2647950" cy="6943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EBECE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Convenience and Ease of Use</a:t>
            </a:r>
            <a:endParaRPr lang="en-US" sz="2187" dirty="0"/>
          </a:p>
        </p:txBody>
      </p:sp>
      <p:sp>
        <p:nvSpPr>
          <p:cNvPr id="10" name="Text 7"/>
          <p:cNvSpPr/>
          <p:nvPr/>
        </p:nvSpPr>
        <p:spPr>
          <a:xfrm>
            <a:off x="2760107" y="4315063"/>
            <a:ext cx="2647950" cy="24878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With voice control, control your home automation system with ease and convenience without the hassle of traditional buttons and switches.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5630228" y="3322201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283157"/>
          </a:solidFill>
          <a:ln w="13811">
            <a:solidFill>
              <a:srgbClr val="303B6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77270" y="3363873"/>
            <a:ext cx="205740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81"/>
              </a:lnSpc>
              <a:buNone/>
            </a:pPr>
            <a:r>
              <a:rPr lang="en-US" sz="2624" dirty="0">
                <a:solidFill>
                  <a:srgbClr val="EBECE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</a:t>
            </a:r>
            <a:endParaRPr lang="en-US" sz="2624" dirty="0"/>
          </a:p>
        </p:txBody>
      </p:sp>
      <p:sp>
        <p:nvSpPr>
          <p:cNvPr id="13" name="Text 10"/>
          <p:cNvSpPr/>
          <p:nvPr/>
        </p:nvSpPr>
        <p:spPr>
          <a:xfrm>
            <a:off x="6352342" y="3398520"/>
            <a:ext cx="233172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EBECE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Energy Efficiency</a:t>
            </a:r>
            <a:endParaRPr lang="en-US" sz="2187" dirty="0"/>
          </a:p>
        </p:txBody>
      </p:sp>
      <p:sp>
        <p:nvSpPr>
          <p:cNvPr id="14" name="Text 11"/>
          <p:cNvSpPr/>
          <p:nvPr/>
        </p:nvSpPr>
        <p:spPr>
          <a:xfrm>
            <a:off x="6352342" y="3967877"/>
            <a:ext cx="2647950" cy="21324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Maximize energy efficiency in your home and reduce costs by automating devices and using them only when necessary.</a:t>
            </a:r>
            <a:endParaRPr lang="en-US" sz="1750" dirty="0"/>
          </a:p>
        </p:txBody>
      </p:sp>
      <p:sp>
        <p:nvSpPr>
          <p:cNvPr id="15" name="Shape 12"/>
          <p:cNvSpPr/>
          <p:nvPr/>
        </p:nvSpPr>
        <p:spPr>
          <a:xfrm>
            <a:off x="9222462" y="3322201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283157"/>
          </a:solidFill>
          <a:ln w="13811">
            <a:solidFill>
              <a:srgbClr val="303B6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380934" y="3363873"/>
            <a:ext cx="182880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81"/>
              </a:lnSpc>
              <a:buNone/>
            </a:pPr>
            <a:r>
              <a:rPr lang="en-US" sz="2624" dirty="0">
                <a:solidFill>
                  <a:srgbClr val="EBECE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</a:t>
            </a:r>
            <a:endParaRPr lang="en-US" sz="2624" dirty="0"/>
          </a:p>
        </p:txBody>
      </p:sp>
      <p:sp>
        <p:nvSpPr>
          <p:cNvPr id="17" name="Text 14"/>
          <p:cNvSpPr/>
          <p:nvPr/>
        </p:nvSpPr>
        <p:spPr>
          <a:xfrm>
            <a:off x="9944576" y="3398520"/>
            <a:ext cx="2647950" cy="6943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EBECE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Enhanced Security and Safety</a:t>
            </a:r>
            <a:endParaRPr lang="en-US" sz="2187" dirty="0"/>
          </a:p>
        </p:txBody>
      </p:sp>
      <p:sp>
        <p:nvSpPr>
          <p:cNvPr id="18" name="Text 15"/>
          <p:cNvSpPr/>
          <p:nvPr/>
        </p:nvSpPr>
        <p:spPr>
          <a:xfrm>
            <a:off x="9944576" y="4315063"/>
            <a:ext cx="2647950" cy="21324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Stay secure and ensure your family's safety by using voice commands to control your surveillance and alarm systems.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 w="13811">
            <a:solidFill>
              <a:srgbClr val="56515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37993" y="1037273"/>
            <a:ext cx="4443889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Conclusion</a:t>
            </a:r>
            <a:endParaRPr lang="en-US" sz="4374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7993" y="2175986"/>
            <a:ext cx="3295888" cy="20369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37993" y="4490561"/>
            <a:ext cx="226314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Future Prospects</a:t>
            </a:r>
            <a:endParaRPr lang="en-US" sz="2187" dirty="0"/>
          </a:p>
        </p:txBody>
      </p:sp>
      <p:sp>
        <p:nvSpPr>
          <p:cNvPr id="7" name="Text 4"/>
          <p:cNvSpPr/>
          <p:nvPr/>
        </p:nvSpPr>
        <p:spPr>
          <a:xfrm>
            <a:off x="2037993" y="5059918"/>
            <a:ext cx="3295888" cy="21324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99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Explore the future prospects of home automation technology, and learn how voice control is the key to the next generation of smart homes.</a:t>
            </a:r>
            <a:endParaRPr lang="en-US" sz="1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7137" y="2175986"/>
            <a:ext cx="3296007" cy="2037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67137" y="4490680"/>
            <a:ext cx="261366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Recap of Key Points</a:t>
            </a:r>
            <a:endParaRPr lang="en-US" sz="2187" dirty="0"/>
          </a:p>
        </p:txBody>
      </p:sp>
      <p:sp>
        <p:nvSpPr>
          <p:cNvPr id="10" name="Text 6"/>
          <p:cNvSpPr/>
          <p:nvPr/>
        </p:nvSpPr>
        <p:spPr>
          <a:xfrm>
            <a:off x="5667137" y="5060037"/>
            <a:ext cx="3296007" cy="177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99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Recap the key points of the presentation and learn the crucial concepts of building a voice-controlled home automation system.</a:t>
            </a:r>
            <a:endParaRPr lang="en-US" sz="17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6400" y="2175986"/>
            <a:ext cx="3296007" cy="2037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296400" y="4490680"/>
            <a:ext cx="3296007" cy="6943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Arduino Voice Control Development</a:t>
            </a:r>
            <a:endParaRPr lang="en-US" sz="2187" dirty="0"/>
          </a:p>
        </p:txBody>
      </p:sp>
      <p:sp>
        <p:nvSpPr>
          <p:cNvPr id="13" name="Text 8"/>
          <p:cNvSpPr/>
          <p:nvPr/>
        </p:nvSpPr>
        <p:spPr>
          <a:xfrm>
            <a:off x="9296400" y="5407223"/>
            <a:ext cx="3296007" cy="177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99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Discover the latest Arduino voice control developments and stay up-to-date with the most innovative smart home technology.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 w="13811">
            <a:solidFill>
              <a:srgbClr val="56515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93256" y="3767614"/>
            <a:ext cx="4443889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5468"/>
              </a:lnSpc>
              <a:buNone/>
            </a:pPr>
            <a:r>
              <a:rPr lang="en-US" sz="4374" b="1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THANK YOU</a:t>
            </a:r>
            <a:endParaRPr lang="en-US" sz="437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506</Words>
  <Application>Microsoft Office PowerPoint</Application>
  <PresentationFormat>Custom</PresentationFormat>
  <Paragraphs>60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Windows User</cp:lastModifiedBy>
  <cp:revision>3</cp:revision>
  <dcterms:created xsi:type="dcterms:W3CDTF">2023-10-17T10:08:03Z</dcterms:created>
  <dcterms:modified xsi:type="dcterms:W3CDTF">2023-10-20T11:48:21Z</dcterms:modified>
</cp:coreProperties>
</file>